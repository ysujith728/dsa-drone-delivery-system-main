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Default ContentType="application/x-fontdata" Extension="fntdata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9.xml"/>
  <Override ContentType="application/vnd.openxmlformats-officedocument.theme+xml" PartName="/ppt/theme/theme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package.core-properties+xml" PartName="/docProps/core.xml"/>
  <Override ContentType="application/vnd.openxmlformats-officedocument.extended-properties+xml" PartName="/docProps/app.xml"/>
  <Default ContentType="image/jpeg" Extension="jpeg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app.xml" Type="http://schemas.openxmlformats.org/officeDocument/2006/relationships/extended-properties"/><Relationship Id="rId2" Target="docProps/core.xml" Type="http://schemas.openxmlformats.org/package/2006/relationships/metadata/core-properties"/><Relationship Id="rId1" Target="ppt/presentation.xml" Type="http://schemas.openxmlformats.org/officeDocument/2006/relationships/officeDocument"/><Relationship Id="rId4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8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14630400" cy="8229600"/>
  <p:notesSz cx="8229600" cy="14630400"/>
  <p:embeddedFontLs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Montserrat" panose="020B0604020202020204" charset="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E8C9"/>
    <a:srgbClr val="FFF8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48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317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8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 ?><Relationships xmlns="http://schemas.openxmlformats.org/package/2006/relationships"><Relationship Id="rId3" Target="../media/image4.jpeg" Type="http://schemas.openxmlformats.org/officeDocument/2006/relationships/image"/><Relationship Id="rId2" Target="../notesSlides/notesSlide2.xml" Type="http://schemas.openxmlformats.org/officeDocument/2006/relationships/notesSlide"/><Relationship Id="rId1" Target="../slideLayouts/slideLayout3.xml" Type="http://schemas.openxmlformats.org/officeDocument/2006/relationships/slideLayout"/></Relationships>
</file>

<file path=ppt/slides/_rels/slide4.xml.rels><?xml version="1.0" encoding="UTF-8" standalone="yes" ?><Relationships xmlns="http://schemas.openxmlformats.org/package/2006/relationships"><Relationship Id="rId3" Target="../media/image5.jpeg" Type="http://schemas.openxmlformats.org/officeDocument/2006/relationships/image"/><Relationship Id="rId2" Target="../notesSlides/notesSlide3.xml" Type="http://schemas.openxmlformats.org/officeDocument/2006/relationships/notesSlide"/><Relationship Id="rId1" Target="../slideLayouts/slideLayout4.xml" Type="http://schemas.openxmlformats.org/officeDocument/2006/relationships/slideLayout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 ?><Relationships xmlns="http://schemas.openxmlformats.org/package/2006/relationships"><Relationship Id="rId3" Target="../media/image6.jpeg" Type="http://schemas.openxmlformats.org/officeDocument/2006/relationships/image"/><Relationship Id="rId2" Target="../notesSlides/notesSlide17.xml" Type="http://schemas.openxmlformats.org/officeDocument/2006/relationships/notesSlide"/><Relationship Id="rId1" Target="../slideLayouts/slideLayout18.xml" Type="http://schemas.openxmlformats.org/officeDocument/2006/relationships/slideLayout"/></Relationships>
</file>

<file path=ppt/slides/_rels/slide19.xml.rels><?xml version="1.0" encoding="UTF-8" standalone="yes" ?><Relationships xmlns="http://schemas.openxmlformats.org/package/2006/relationships"><Relationship Id="rId3" Target="../media/image7.jpeg" Type="http://schemas.openxmlformats.org/officeDocument/2006/relationships/image"/><Relationship Id="rId2" Target="../notesSlides/notesSlide18.xml" Type="http://schemas.openxmlformats.org/officeDocument/2006/relationships/notesSlide"/><Relationship Id="rId1" Target="../slideLayouts/slideLayout19.xml" Type="http://schemas.openxmlformats.org/officeDocument/2006/relationships/slideLayout"/></Relationships>
</file>

<file path=ppt/slides/_rels/slide20.xml.rels><?xml version="1.0" encoding="UTF-8" standalone="yes" ?><Relationships xmlns="http://schemas.openxmlformats.org/package/2006/relationships"><Relationship Id="rId3" Target="../media/image8.jpeg" Type="http://schemas.openxmlformats.org/officeDocument/2006/relationships/image"/><Relationship Id="rId2" Target="../notesSlides/notesSlide19.xml" Type="http://schemas.openxmlformats.org/officeDocument/2006/relationships/notesSlide"/><Relationship Id="rId1" Target="../slideLayouts/slideLayout20.xml" Type="http://schemas.openxmlformats.org/officeDocument/2006/relationships/slideLayout"/></Relationships>
</file>

<file path=ppt/slides/_rels/slide21.xml.rels><?xml version="1.0" encoding="UTF-8" standalone="yes" ?><Relationships xmlns="http://schemas.openxmlformats.org/package/2006/relationships"><Relationship Id="rId3" Target="../media/image9.jpeg" Type="http://schemas.openxmlformats.org/officeDocument/2006/relationships/image"/><Relationship Id="rId2" Target="../notesSlides/notesSlide20.xml" Type="http://schemas.openxmlformats.org/officeDocument/2006/relationships/notesSlide"/><Relationship Id="rId1" Target="../slideLayouts/slideLayout21.xml" Type="http://schemas.openxmlformats.org/officeDocument/2006/relationships/slideLayout"/></Relationships>
</file>

<file path=ppt/slides/_rels/slide22.xml.rels><?xml version="1.0" encoding="UTF-8" standalone="yes" ?><Relationships xmlns="http://schemas.openxmlformats.org/package/2006/relationships"><Relationship Id="rId3" Target="../media/image10.jpeg" Type="http://schemas.openxmlformats.org/officeDocument/2006/relationships/image"/><Relationship Id="rId2" Target="../notesSlides/notesSlide21.xml" Type="http://schemas.openxmlformats.org/officeDocument/2006/relationships/notesSlide"/><Relationship Id="rId1" Target="../slideLayouts/slideLayout22.xml" Type="http://schemas.openxmlformats.org/officeDocument/2006/relationships/slideLayout"/></Relationships>
</file>

<file path=ppt/slides/_rels/slide23.xml.rels><?xml version="1.0" encoding="UTF-8" standalone="yes" ?><Relationships xmlns="http://schemas.openxmlformats.org/package/2006/relationships"><Relationship Id="rId3" Target="../media/image11.jpeg" Type="http://schemas.openxmlformats.org/officeDocument/2006/relationships/image"/><Relationship Id="rId2" Target="../notesSlides/notesSlide22.xml" Type="http://schemas.openxmlformats.org/officeDocument/2006/relationships/notesSlide"/><Relationship Id="rId1" Target="../slideLayouts/slideLayout23.xml" Type="http://schemas.openxmlformats.org/officeDocument/2006/relationships/slideLayout"/></Relationships>
</file>

<file path=ppt/slides/_rels/slide24.xml.rels><?xml version="1.0" encoding="UTF-8" standalone="yes" ?><Relationships xmlns="http://schemas.openxmlformats.org/package/2006/relationships"><Relationship Id="rId3" Target="../media/image12.jpeg" Type="http://schemas.openxmlformats.org/officeDocument/2006/relationships/image"/><Relationship Id="rId2" Target="../notesSlides/notesSlide23.xml" Type="http://schemas.openxmlformats.org/officeDocument/2006/relationships/notesSlide"/><Relationship Id="rId1" Target="../slideLayouts/slideLayout24.xml" Type="http://schemas.openxmlformats.org/officeDocument/2006/relationships/slideLayout"/></Relationships>
</file>

<file path=ppt/slides/_rels/slide25.xml.rels><?xml version="1.0" encoding="UTF-8" standalone="yes" ?><Relationships xmlns="http://schemas.openxmlformats.org/package/2006/relationships"><Relationship Id="rId3" Target="../media/image13.jpeg" Type="http://schemas.openxmlformats.org/officeDocument/2006/relationships/image"/><Relationship Id="rId2" Target="../notesSlides/notesSlide24.xml" Type="http://schemas.openxmlformats.org/officeDocument/2006/relationships/notesSlide"/><Relationship Id="rId1" Target="../slideLayouts/slideLayout25.xml" Type="http://schemas.openxmlformats.org/officeDocument/2006/relationships/slideLayout"/></Relationships>
</file>

<file path=ppt/slides/_rels/slide26.xml.rels><?xml version="1.0" encoding="UTF-8" standalone="yes" ?><Relationships xmlns="http://schemas.openxmlformats.org/package/2006/relationships"><Relationship Id="rId3" Target="../media/image14.jpeg" Type="http://schemas.openxmlformats.org/officeDocument/2006/relationships/image"/><Relationship Id="rId2" Target="../notesSlides/notesSlide25.xml" Type="http://schemas.openxmlformats.org/officeDocument/2006/relationships/notesSlide"/><Relationship Id="rId1" Target="../slideLayouts/slideLayout26.xml" Type="http://schemas.openxmlformats.org/officeDocument/2006/relationships/slideLayout"/></Relationships>
</file>

<file path=ppt/slides/_rels/slide27.xml.rels><?xml version="1.0" encoding="UTF-8" standalone="yes" ?><Relationships xmlns="http://schemas.openxmlformats.org/package/2006/relationships"><Relationship Id="rId3" Target="../media/image15.jpeg" Type="http://schemas.openxmlformats.org/officeDocument/2006/relationships/image"/><Relationship Id="rId2" Target="../notesSlides/notesSlide26.xml" Type="http://schemas.openxmlformats.org/officeDocument/2006/relationships/notesSlide"/><Relationship Id="rId1" Target="../slideLayouts/slideLayout27.xml" Type="http://schemas.openxmlformats.org/officeDocument/2006/relationships/slideLayout"/><Relationship Id="rId4" Target="../media/image16.jpeg" Type="http://schemas.openxmlformats.org/officeDocument/2006/relationships/image"/></Relationships>
</file>

<file path=ppt/slides/_rels/slide28.xml.rels><?xml version="1.0" encoding="UTF-8" standalone="yes" ?><Relationships xmlns="http://schemas.openxmlformats.org/package/2006/relationships"><Relationship Id="rId3" Target="../media/image17.jpeg" Type="http://schemas.openxmlformats.org/officeDocument/2006/relationships/image"/><Relationship Id="rId2" Target="../notesSlides/notesSlide27.xml" Type="http://schemas.openxmlformats.org/officeDocument/2006/relationships/notesSlide"/><Relationship Id="rId1" Target="../slideLayouts/slideLayout28.xml" Type="http://schemas.openxmlformats.org/officeDocument/2006/relationships/slideLayout"/><Relationship Id="rId4" Target="../media/image18.jpeg" Type="http://schemas.openxmlformats.org/officeDocument/2006/relationships/image"/></Relationships>
</file>

<file path=ppt/slides/_rels/slide29.xml.rels><?xml version="1.0" encoding="UTF-8" standalone="yes" ?><Relationships xmlns="http://schemas.openxmlformats.org/package/2006/relationships"><Relationship Id="rId3" Target="../media/image19.jpeg" Type="http://schemas.openxmlformats.org/officeDocument/2006/relationships/image"/><Relationship Id="rId2" Target="../notesSlides/notesSlide28.xml" Type="http://schemas.openxmlformats.org/officeDocument/2006/relationships/notesSlide"/><Relationship Id="rId1" Target="../slideLayouts/slideLayout29.xml" Type="http://schemas.openxmlformats.org/officeDocument/2006/relationships/slideLayout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75598"/>
            <a:ext cx="7556421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"Drone Delivery Simulator       Using  Segment Trees"</a:t>
            </a:r>
            <a:endParaRPr lang="en-US" sz="4100" dirty="0"/>
          </a:p>
        </p:txBody>
      </p:sp>
      <p:sp>
        <p:nvSpPr>
          <p:cNvPr id="4" name="Text 1"/>
          <p:cNvSpPr/>
          <p:nvPr/>
        </p:nvSpPr>
        <p:spPr>
          <a:xfrm>
            <a:off x="6280190" y="2672120"/>
            <a:ext cx="75564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Deep Dive into Algorithmic System Design for Real-Time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3307080"/>
            <a:ext cx="7556421" cy="2712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DSA Case Study Evaluation: Balancing Performance,Scalability, and Precision</a:t>
            </a:r>
            <a:endParaRPr lang="en-US" sz="4100" dirty="0"/>
          </a:p>
        </p:txBody>
      </p:sp>
      <p:sp>
        <p:nvSpPr>
          <p:cNvPr id="6" name="Text 3"/>
          <p:cNvSpPr/>
          <p:nvPr/>
        </p:nvSpPr>
        <p:spPr>
          <a:xfrm>
            <a:off x="6280190" y="6110526"/>
            <a:ext cx="3944303" cy="50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Presented by: Group 8</a:t>
            </a:r>
            <a:endParaRPr lang="en-US" sz="3050" dirty="0"/>
          </a:p>
        </p:txBody>
      </p:sp>
      <p:sp>
        <p:nvSpPr>
          <p:cNvPr id="7" name="Text 4"/>
          <p:cNvSpPr/>
          <p:nvPr/>
        </p:nvSpPr>
        <p:spPr>
          <a:xfrm>
            <a:off x="6280190" y="6959203"/>
            <a:ext cx="75564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78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746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999" y="622578"/>
            <a:ext cx="12364403" cy="69858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902" y="629960"/>
            <a:ext cx="12390596" cy="69696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1647" y="622697"/>
            <a:ext cx="2731294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Algorithm:Phase 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91647" y="1040963"/>
            <a:ext cx="2747248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1: ChargingStation.java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791647" y="1459230"/>
            <a:ext cx="6436638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System InitializationStep 1: Initialize Charging Station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791647" y="1877497"/>
            <a:ext cx="5021461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1.1 Retrieve ID, name, and list of chargers.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791647" y="2295763"/>
            <a:ext cx="4694039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1.2 Store data in ChargingStation class.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791647" y="2714030"/>
            <a:ext cx="10851952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1.3 The ChargingStation object holds all attributes, and ID serves as a key for access.Step 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791647" y="3132296"/>
            <a:ext cx="4840605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2: Display Charging Station Information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791647" y="3550563"/>
            <a:ext cx="6026110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2.1 Call the toString method to generate a string.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791647" y="3968829"/>
            <a:ext cx="6311027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2.2 Concatenate ID, name, and chargers for display.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791647" y="4387096"/>
            <a:ext cx="2731294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2. Time Complexity: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791647" y="4805362"/>
            <a:ext cx="2731294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Initialization (Step 1):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791647" y="5223629"/>
            <a:ext cx="2731294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Time Complexity: O(1)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791647" y="5641896"/>
            <a:ext cx="12864227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Explanation: The ChargingStation constructor initializes the object attributes, a constant-time operation.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791647" y="6060162"/>
            <a:ext cx="2731294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Display (Step 2):</a:t>
            </a:r>
            <a:endParaRPr lang="en-US" sz="2150" dirty="0"/>
          </a:p>
        </p:txBody>
      </p:sp>
      <p:sp>
        <p:nvSpPr>
          <p:cNvPr id="16" name="Text 14"/>
          <p:cNvSpPr/>
          <p:nvPr/>
        </p:nvSpPr>
        <p:spPr>
          <a:xfrm>
            <a:off x="791647" y="6478429"/>
            <a:ext cx="2790825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Time Complexity: O(n)</a:t>
            </a:r>
            <a:endParaRPr lang="en-US" sz="2150" dirty="0"/>
          </a:p>
        </p:txBody>
      </p:sp>
      <p:sp>
        <p:nvSpPr>
          <p:cNvPr id="17" name="Text 15"/>
          <p:cNvSpPr/>
          <p:nvPr/>
        </p:nvSpPr>
        <p:spPr>
          <a:xfrm>
            <a:off x="791647" y="6896695"/>
            <a:ext cx="13047107" cy="710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Explanation: The toString method iterates through the list of chargers (if any), so its complexity depends on the number of chargers.</a:t>
            </a:r>
            <a:endParaRPr lang="en-US" sz="2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1647" y="622697"/>
            <a:ext cx="2731294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DeliveryPoint.java 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91647" y="1040963"/>
            <a:ext cx="3417451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Phase 1: System Initialization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791647" y="1459230"/>
            <a:ext cx="3643551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Step 1: Initialize Delivery Point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791647" y="1877497"/>
            <a:ext cx="3261003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1.1 Retrieve ID and address.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791647" y="2295763"/>
            <a:ext cx="4819055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1.2 Store data in the DeliveryPoint class.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791647" y="2714030"/>
            <a:ext cx="4536877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1.3 ID serves as a key for quick access.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791647" y="3132296"/>
            <a:ext cx="5094327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Step 2: Display Delivery Point Information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791647" y="3550563"/>
            <a:ext cx="6099334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2.1 Call toString method for string representation.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791647" y="3968829"/>
            <a:ext cx="5324951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2.2 Concatenate ID and address for output.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791647" y="4387096"/>
            <a:ext cx="2731294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2. Time Complexity: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791647" y="4805362"/>
            <a:ext cx="2731294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Initialization (Step 1):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791647" y="5223629"/>
            <a:ext cx="2731294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Time Complexity: O(1)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791647" y="5641896"/>
            <a:ext cx="12976860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Explanation: Like ChargingStation, this is a constant-time operation as we are initializing simple attributes.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791647" y="6060162"/>
            <a:ext cx="2731294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Display (Step 2):</a:t>
            </a:r>
            <a:endParaRPr lang="en-US" sz="2150" dirty="0"/>
          </a:p>
        </p:txBody>
      </p:sp>
      <p:sp>
        <p:nvSpPr>
          <p:cNvPr id="16" name="Text 14"/>
          <p:cNvSpPr/>
          <p:nvPr/>
        </p:nvSpPr>
        <p:spPr>
          <a:xfrm>
            <a:off x="791647" y="6478429"/>
            <a:ext cx="2731294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Time Complexity: O(1)</a:t>
            </a:r>
            <a:endParaRPr lang="en-US" sz="2150" dirty="0"/>
          </a:p>
        </p:txBody>
      </p:sp>
      <p:sp>
        <p:nvSpPr>
          <p:cNvPr id="17" name="Text 15"/>
          <p:cNvSpPr/>
          <p:nvPr/>
        </p:nvSpPr>
        <p:spPr>
          <a:xfrm>
            <a:off x="791647" y="6896695"/>
            <a:ext cx="13047107" cy="710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Explanation: The toString method only involves concatenating a few fields (ID and address), making it a constant-time operation.</a:t>
            </a:r>
            <a:endParaRPr lang="en-US" sz="2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8655"/>
            <a:ext cx="2543294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Drone.java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93790" y="1058108"/>
            <a:ext cx="2543294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1. Algorithm: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93790" y="1447562"/>
            <a:ext cx="3182064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Phase 1: System Initialization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93790" y="1837015"/>
            <a:ext cx="2543294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Step 1: Initialize Drone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93790" y="2226469"/>
            <a:ext cx="6071711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1.1 Retrieve ID, status, location, and other parameters.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93790" y="2615922"/>
            <a:ext cx="4456152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1.2 Store drone data in the Drone class.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93790" y="3005376"/>
            <a:ext cx="3125391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1.3 ID is used for fast access.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93790" y="3394829"/>
            <a:ext cx="3871913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Step 2: Display Drone Information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93790" y="3784283"/>
            <a:ext cx="5679043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2.1 Call toString method for string representation.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93790" y="4173736"/>
            <a:ext cx="4594622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2.2 Concatenate ID, status, and location.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93790" y="4563189"/>
            <a:ext cx="2543294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2. Time Complexity: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93790" y="4952643"/>
            <a:ext cx="2543294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Initialization (Step 1):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93790" y="5342096"/>
            <a:ext cx="2543294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Time Complexity: O(1)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93790" y="5731550"/>
            <a:ext cx="10926485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Explanation: The initialization involves setting simple variables, so it's a constant-time operation.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93790" y="6121003"/>
            <a:ext cx="2543294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Display (Step 2):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93790" y="6510457"/>
            <a:ext cx="2543294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Time Complexity: O(1)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93790" y="6899910"/>
            <a:ext cx="13042821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Explanation: Similar to ChargingStation and DeliveryPoint, displaying a Drone only involves concatenating a few fields.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8655"/>
            <a:ext cx="2543294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NoFlyZone.java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93790" y="1058108"/>
            <a:ext cx="2543294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1. Algorithm: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93790" y="1447562"/>
            <a:ext cx="3182064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Phase 1: System Initialization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93790" y="1837015"/>
            <a:ext cx="3231237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Step 1: Initialize No-Fly Zone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93790" y="2226469"/>
            <a:ext cx="5573316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1.1 Retrieve ID, description, and permission status.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93790" y="2615922"/>
            <a:ext cx="3188375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1.2 Store data in NoFlyZone.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93790" y="3005376"/>
            <a:ext cx="3790355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1.3 ID serves as the key for access.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93790" y="3394829"/>
            <a:ext cx="4582120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Step 2: Display No-Fly Zone Information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93790" y="3784283"/>
            <a:ext cx="5679043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2.1 Call toString method for string representation.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93790" y="4173736"/>
            <a:ext cx="6226254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2.2 Concatenate ID, description, and permission status.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93790" y="4563189"/>
            <a:ext cx="2543294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2. Time Complexity: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93790" y="4952643"/>
            <a:ext cx="2543294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Initialization (Step 1):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93790" y="5342096"/>
            <a:ext cx="2543294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Time Complexity: O(1)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93790" y="5731550"/>
            <a:ext cx="13042821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Explanation: The NoFlyZone initialization is similar to the others, a constant-time process as we're assigning values to attributes.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93790" y="6451521"/>
            <a:ext cx="2543294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Display (Step 2):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93790" y="6840974"/>
            <a:ext cx="2543294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Time Complexity: O(1)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93790" y="7230428"/>
            <a:ext cx="11126033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Explanation: The toString method is a simple concatenation of strings, which takes constant time.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5813" y="617458"/>
            <a:ext cx="2711291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0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Warehouse.java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85813" y="1032748"/>
            <a:ext cx="2711291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0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1. Algorithm: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5813" y="1448038"/>
            <a:ext cx="339363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0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Phase 1: System Initialization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85813" y="1863328"/>
            <a:ext cx="3293745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Step 1: Initialize Warehouse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85813" y="2278618"/>
            <a:ext cx="420266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1.1 Retrieve ID, name, and capacity.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85813" y="2693908"/>
            <a:ext cx="4056102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1.2 Store data in Warehouse class.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85813" y="3109198"/>
            <a:ext cx="615469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1.3 ID serves as the unique identifier for fast access.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85813" y="3524488"/>
            <a:ext cx="4734401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Step 2: Display Warehouse Information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85813" y="3939778"/>
            <a:ext cx="605682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2.1 Call toString method for string representation.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85813" y="4355068"/>
            <a:ext cx="4899184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2.2 Concatenate ID, name, and capacity.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85813" y="4770358"/>
            <a:ext cx="2711291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0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2. Time Complexity: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85813" y="5185648"/>
            <a:ext cx="2711291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Initialization (Step 1):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85813" y="5600938"/>
            <a:ext cx="2711291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Time Complexity: O(1)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85813" y="6016228"/>
            <a:ext cx="11779925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Explanation: The constructor only involves setting attributes, which is a constant-time operation.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85813" y="6431518"/>
            <a:ext cx="2711291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Display (Step 2):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85813" y="6846808"/>
            <a:ext cx="2711291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Time Complexity: O(1)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85813" y="7262098"/>
            <a:ext cx="11706225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Explanation: String concatenation in the toString method makes this a constant-time operation.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8655"/>
            <a:ext cx="2632472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WeatherCondition.java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93790" y="1058108"/>
            <a:ext cx="2543294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1. Algorithm: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93790" y="1447562"/>
            <a:ext cx="3182064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Phase 1: System Initialization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93790" y="1837015"/>
            <a:ext cx="4017407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Step 1: Initialize Weather Condition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93790" y="2226469"/>
            <a:ext cx="3731776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1.1 Retrieve ID, type, and severity.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93790" y="2615922"/>
            <a:ext cx="4656058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1.2 Store data in WeatherCondition class.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93790" y="3005376"/>
            <a:ext cx="3060025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1.3 ID allows for fast access.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93790" y="3394829"/>
            <a:ext cx="5368290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Step 2: Display Weather Condition Information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93790" y="3784283"/>
            <a:ext cx="4692134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2.1 Call toString for string representation.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93790" y="4173736"/>
            <a:ext cx="4384715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2.2 Concatenate ID, type, and severity.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93790" y="4563189"/>
            <a:ext cx="2543294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2. Time Complexity: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93790" y="4952643"/>
            <a:ext cx="2543294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Initialization (Step 1):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93790" y="5342096"/>
            <a:ext cx="2543294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Time Complexity: O(1)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93790" y="5731550"/>
            <a:ext cx="13042821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Explanation: Similar to the other classes, this involves simple assignment to instance variables, which is constant time.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93790" y="6451521"/>
            <a:ext cx="2543294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Display (Step 2):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93790" y="6840974"/>
            <a:ext cx="2543294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Time Complexity: O(1)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93790" y="7230428"/>
            <a:ext cx="8855154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Explanation: Concatenating a few attributes into a string takes constant time.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1647" y="622697"/>
            <a:ext cx="2731294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DatabaseService.java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91647" y="1040963"/>
            <a:ext cx="2731294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1. Algorithm: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791647" y="1459230"/>
            <a:ext cx="3554849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Phase 1: Database Operations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791647" y="1877497"/>
            <a:ext cx="2731294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Step 1: Load Database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791647" y="2295763"/>
            <a:ext cx="4974312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1.1 Establish connection using credentials.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791647" y="2714030"/>
            <a:ext cx="9303901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1.2 Retrieve job positions, charging stations, warehouses, delivery points, etc.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791647" y="3132296"/>
            <a:ext cx="5339596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1.3 Store the data into tables for fast access.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791647" y="3550563"/>
            <a:ext cx="2731294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Step 2: Insert Data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791647" y="3968829"/>
            <a:ext cx="7970044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2.1 Insert records into the database using SQL INSERT statements.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791647" y="4387096"/>
            <a:ext cx="2731294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Step 3: Retrieve Data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791647" y="4805362"/>
            <a:ext cx="5606772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3.1 Retrieve records using SQL SELECT queries.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791647" y="5223629"/>
            <a:ext cx="7969925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3.2 Store the retrieved data in appropriate classes for processing.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791647" y="5641896"/>
            <a:ext cx="2731294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2. Time Complexity: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791647" y="6060162"/>
            <a:ext cx="2813923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Load Database (Step 1):</a:t>
            </a:r>
            <a:endParaRPr lang="en-US" sz="2150" dirty="0"/>
          </a:p>
        </p:txBody>
      </p:sp>
      <p:sp>
        <p:nvSpPr>
          <p:cNvPr id="16" name="Text 14"/>
          <p:cNvSpPr/>
          <p:nvPr/>
        </p:nvSpPr>
        <p:spPr>
          <a:xfrm>
            <a:off x="791647" y="6478429"/>
            <a:ext cx="2790825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Time Complexity: O(n)</a:t>
            </a:r>
            <a:endParaRPr lang="en-US" sz="2150" dirty="0"/>
          </a:p>
        </p:txBody>
      </p:sp>
      <p:sp>
        <p:nvSpPr>
          <p:cNvPr id="17" name="Text 15"/>
          <p:cNvSpPr/>
          <p:nvPr/>
        </p:nvSpPr>
        <p:spPr>
          <a:xfrm>
            <a:off x="791647" y="6896695"/>
            <a:ext cx="13047107" cy="710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Explanation: The time depends on the number of records retrieved from the database, as each record is accessed individually.</a:t>
            </a:r>
            <a:endParaRPr lang="en-US" sz="2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08121"/>
            <a:ext cx="3912751" cy="50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Insert Data (Step 2):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793790" y="2707362"/>
            <a:ext cx="3912751" cy="50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Time Complexity: O(1)</a:t>
            </a:r>
            <a:endParaRPr lang="en-US" sz="3050" dirty="0"/>
          </a:p>
        </p:txBody>
      </p:sp>
      <p:sp>
        <p:nvSpPr>
          <p:cNvPr id="4" name="Text 2"/>
          <p:cNvSpPr/>
          <p:nvPr/>
        </p:nvSpPr>
        <p:spPr>
          <a:xfrm>
            <a:off x="793790" y="3306604"/>
            <a:ext cx="11061621" cy="50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Explanation: Inserting one record is a constant-time operation.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793790" y="3905845"/>
            <a:ext cx="3929420" cy="50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Retrieve Data (Step 3):</a:t>
            </a:r>
            <a:endParaRPr lang="en-US" sz="3050" dirty="0"/>
          </a:p>
        </p:txBody>
      </p:sp>
      <p:sp>
        <p:nvSpPr>
          <p:cNvPr id="6" name="Text 4"/>
          <p:cNvSpPr/>
          <p:nvPr/>
        </p:nvSpPr>
        <p:spPr>
          <a:xfrm>
            <a:off x="793790" y="4505087"/>
            <a:ext cx="3998119" cy="50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Time Complexity: O(n)</a:t>
            </a:r>
            <a:endParaRPr lang="en-US" sz="3050" dirty="0"/>
          </a:p>
        </p:txBody>
      </p:sp>
      <p:sp>
        <p:nvSpPr>
          <p:cNvPr id="7" name="Text 5"/>
          <p:cNvSpPr/>
          <p:nvPr/>
        </p:nvSpPr>
        <p:spPr>
          <a:xfrm>
            <a:off x="793790" y="5104328"/>
            <a:ext cx="13042821" cy="101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Explanation: The time complexity depends on the number of records being fetched (n), assuming a simple query with no indexes.</a:t>
            </a:r>
            <a:endParaRPr lang="en-US" sz="3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0813"/>
            <a:ext cx="2738914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DroneService.java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93790" y="1210270"/>
            <a:ext cx="2738914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1. Algorithm: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793790" y="1629728"/>
            <a:ext cx="3522464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Phase 1: Drone Management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793790" y="2049185"/>
            <a:ext cx="3661529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Step 1: Initialize Drone Service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793790" y="2468642"/>
            <a:ext cx="6138267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1.1 Set up services like database, segment tree, etc.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793790" y="2888099"/>
            <a:ext cx="8006834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1.2 Instantiate DroneService class for managing drone operations.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793790" y="3307556"/>
            <a:ext cx="2738914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Step 2: Add Drone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793790" y="3727013"/>
            <a:ext cx="7121843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2.1 Link the drone to a warehouse using the DroneService.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793790" y="4146471"/>
            <a:ext cx="4985028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2.2 Update drone status in the database.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793790" y="4565928"/>
            <a:ext cx="3439954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Step 3: Retrieve Drone Data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793790" y="4985385"/>
            <a:ext cx="4896564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3.1 Fetch drone data from the database.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793790" y="5404842"/>
            <a:ext cx="4998363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3.2 Update drone attributes accordingly.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793790" y="5824299"/>
            <a:ext cx="2738914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2. Time Complexity: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793790" y="6243757"/>
            <a:ext cx="2738914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Initialization (Step 1):</a:t>
            </a:r>
            <a:endParaRPr lang="en-US" sz="2150" dirty="0"/>
          </a:p>
        </p:txBody>
      </p:sp>
      <p:sp>
        <p:nvSpPr>
          <p:cNvPr id="16" name="Text 14"/>
          <p:cNvSpPr/>
          <p:nvPr/>
        </p:nvSpPr>
        <p:spPr>
          <a:xfrm>
            <a:off x="793790" y="6663214"/>
            <a:ext cx="2738914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Time Complexity: O(1)</a:t>
            </a:r>
            <a:endParaRPr lang="en-US" sz="2150" dirty="0"/>
          </a:p>
        </p:txBody>
      </p:sp>
      <p:sp>
        <p:nvSpPr>
          <p:cNvPr id="17" name="Text 15"/>
          <p:cNvSpPr/>
          <p:nvPr/>
        </p:nvSpPr>
        <p:spPr>
          <a:xfrm>
            <a:off x="793790" y="7082671"/>
            <a:ext cx="12512040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Explanation: Setting up services like databases and segment trees is a constant-time initialization step.</a:t>
            </a:r>
            <a:endParaRPr lang="en-US" sz="2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53922"/>
            <a:ext cx="3912751" cy="50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Add Drone (Step 2):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793790" y="2453164"/>
            <a:ext cx="3912751" cy="50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Time Complexity: O(1)</a:t>
            </a:r>
            <a:endParaRPr lang="en-US" sz="3050" dirty="0"/>
          </a:p>
        </p:txBody>
      </p:sp>
      <p:sp>
        <p:nvSpPr>
          <p:cNvPr id="4" name="Text 2"/>
          <p:cNvSpPr/>
          <p:nvPr/>
        </p:nvSpPr>
        <p:spPr>
          <a:xfrm>
            <a:off x="793790" y="3052405"/>
            <a:ext cx="13042821" cy="101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Explanation: Adding a drone is a simple database update or insertion, which is constant time.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793790" y="4160163"/>
            <a:ext cx="5148382" cy="50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Retrieve Drone Data (Step 3):</a:t>
            </a:r>
            <a:endParaRPr lang="en-US" sz="3050" dirty="0"/>
          </a:p>
        </p:txBody>
      </p:sp>
      <p:sp>
        <p:nvSpPr>
          <p:cNvPr id="6" name="Text 4"/>
          <p:cNvSpPr/>
          <p:nvPr/>
        </p:nvSpPr>
        <p:spPr>
          <a:xfrm>
            <a:off x="793790" y="4759404"/>
            <a:ext cx="3912751" cy="50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Time Complexity: O(1)</a:t>
            </a:r>
            <a:endParaRPr lang="en-US" sz="3050" dirty="0"/>
          </a:p>
        </p:txBody>
      </p:sp>
      <p:sp>
        <p:nvSpPr>
          <p:cNvPr id="7" name="Text 5"/>
          <p:cNvSpPr/>
          <p:nvPr/>
        </p:nvSpPr>
        <p:spPr>
          <a:xfrm>
            <a:off x="793790" y="5358646"/>
            <a:ext cx="13042821" cy="101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Explanation: Fetching one drone's data from the database is a constant-time operation.</a:t>
            </a:r>
            <a:endParaRPr lang="en-US" sz="3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0813"/>
            <a:ext cx="2738914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RouteService.java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93790" y="1210270"/>
            <a:ext cx="2738914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1. Algorithm: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793790" y="1629728"/>
            <a:ext cx="3285411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Phase 1: Path Management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793790" y="2049185"/>
            <a:ext cx="2738914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Step 1: Set Path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793790" y="2468642"/>
            <a:ext cx="6591538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1.1 Define path based on available routes or segments.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793790" y="2888099"/>
            <a:ext cx="9598343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1.2 Set path for a drone or vehicle considering constraints like time and safety.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793790" y="3307556"/>
            <a:ext cx="2738914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Step 2: Validate Path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793790" y="3727013"/>
            <a:ext cx="10473928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2.1 Ensure that each path segment is valid by checking for obstacles and no-fly zones.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793790" y="4146471"/>
            <a:ext cx="5326142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2.2 If invalid, recalculate or return an error.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793790" y="4565928"/>
            <a:ext cx="2738914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2. Time Complexity: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793790" y="4985385"/>
            <a:ext cx="2738914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Set Path (Step 1):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793790" y="5404842"/>
            <a:ext cx="2799278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Time Complexity: O(n)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793790" y="5824299"/>
            <a:ext cx="12388691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Explanation: Depending on the length of the path (n), setting it involves iterating over the segments.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793790" y="6243757"/>
            <a:ext cx="2738914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Validate Path (Step 2):</a:t>
            </a:r>
            <a:endParaRPr lang="en-US" sz="2150" dirty="0"/>
          </a:p>
        </p:txBody>
      </p:sp>
      <p:sp>
        <p:nvSpPr>
          <p:cNvPr id="16" name="Text 14"/>
          <p:cNvSpPr/>
          <p:nvPr/>
        </p:nvSpPr>
        <p:spPr>
          <a:xfrm>
            <a:off x="793790" y="6663214"/>
            <a:ext cx="2799278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Time Complexity: O(n)</a:t>
            </a:r>
            <a:endParaRPr lang="en-US" sz="2150" dirty="0"/>
          </a:p>
        </p:txBody>
      </p:sp>
      <p:sp>
        <p:nvSpPr>
          <p:cNvPr id="17" name="Text 15"/>
          <p:cNvSpPr/>
          <p:nvPr/>
        </p:nvSpPr>
        <p:spPr>
          <a:xfrm>
            <a:off x="793790" y="7082671"/>
            <a:ext cx="10991374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Explanation: Validating each path segment is a linear operation (one check per segment).</a:t>
            </a:r>
            <a:endParaRPr lang="en-US" sz="2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0813"/>
            <a:ext cx="3030736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SegmentTreeService.java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93790" y="1210270"/>
            <a:ext cx="2738914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1. Algorithm: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793790" y="1629728"/>
            <a:ext cx="4149685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Phase 1: Segment Tree Operations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793790" y="2049185"/>
            <a:ext cx="3250883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Step 1: Build Segment Tree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793790" y="2468642"/>
            <a:ext cx="5927169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1.1 Initialize the segment tree with relevant data.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793790" y="2888099"/>
            <a:ext cx="6930033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1.2 Populate the tree using algorithms like range queries.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793790" y="3307556"/>
            <a:ext cx="3886557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Step 2: Insert and Remove Data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793790" y="3727013"/>
            <a:ext cx="3551515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2.1 Insert data into segments.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793790" y="4146471"/>
            <a:ext cx="6025396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2.2 Remove data from segments when necessary.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793790" y="4565928"/>
            <a:ext cx="3964543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Step 3: Query the Segment Tree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793790" y="4985385"/>
            <a:ext cx="8126611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3.1 Perform range queries to check availability or status of regions.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793790" y="5404842"/>
            <a:ext cx="5346621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3.2 Use segment tree for efficient querying.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793790" y="5824299"/>
            <a:ext cx="2738914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2. Time Complexity: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793790" y="6243757"/>
            <a:ext cx="3415665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Build Segment Tree (Step 1):</a:t>
            </a:r>
            <a:endParaRPr lang="en-US" sz="2150" dirty="0"/>
          </a:p>
        </p:txBody>
      </p:sp>
      <p:sp>
        <p:nvSpPr>
          <p:cNvPr id="16" name="Text 14"/>
          <p:cNvSpPr/>
          <p:nvPr/>
        </p:nvSpPr>
        <p:spPr>
          <a:xfrm>
            <a:off x="793790" y="6663214"/>
            <a:ext cx="2799278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Time Complexity: O(n)</a:t>
            </a:r>
            <a:endParaRPr lang="en-US" sz="2150" dirty="0"/>
          </a:p>
        </p:txBody>
      </p:sp>
      <p:sp>
        <p:nvSpPr>
          <p:cNvPr id="17" name="Text 15"/>
          <p:cNvSpPr/>
          <p:nvPr/>
        </p:nvSpPr>
        <p:spPr>
          <a:xfrm>
            <a:off x="793790" y="7082671"/>
            <a:ext cx="10705267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Explanation: Building the segment tree requires processing all elements in the data set.</a:t>
            </a:r>
            <a:endParaRPr lang="en-US" sz="2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53922"/>
            <a:ext cx="5786318" cy="50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Insert and Remove Data (Step 2):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793790" y="2453164"/>
            <a:ext cx="4673203" cy="50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Time Complexity: O(log n)</a:t>
            </a:r>
            <a:endParaRPr lang="en-US" sz="3050" dirty="0"/>
          </a:p>
        </p:txBody>
      </p:sp>
      <p:sp>
        <p:nvSpPr>
          <p:cNvPr id="4" name="Text 2"/>
          <p:cNvSpPr/>
          <p:nvPr/>
        </p:nvSpPr>
        <p:spPr>
          <a:xfrm>
            <a:off x="793790" y="3052405"/>
            <a:ext cx="13042821" cy="101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Explanation: Segment trees offer efficient insert and remove operations, both in logarithmic time.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793790" y="4160163"/>
            <a:ext cx="5196126" cy="50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Query Segment Tree (Step 3):</a:t>
            </a:r>
            <a:endParaRPr lang="en-US" sz="3050" dirty="0"/>
          </a:p>
        </p:txBody>
      </p:sp>
      <p:sp>
        <p:nvSpPr>
          <p:cNvPr id="6" name="Text 4"/>
          <p:cNvSpPr/>
          <p:nvPr/>
        </p:nvSpPr>
        <p:spPr>
          <a:xfrm>
            <a:off x="793790" y="4759404"/>
            <a:ext cx="4673203" cy="50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Time Complexity: O(log n)</a:t>
            </a:r>
            <a:endParaRPr lang="en-US" sz="3050" dirty="0"/>
          </a:p>
        </p:txBody>
      </p:sp>
      <p:sp>
        <p:nvSpPr>
          <p:cNvPr id="7" name="Text 5"/>
          <p:cNvSpPr/>
          <p:nvPr/>
        </p:nvSpPr>
        <p:spPr>
          <a:xfrm>
            <a:off x="793790" y="5358646"/>
            <a:ext cx="13042821" cy="101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Explanation: Range queries are efficient and can be answered in logarithmic time due to the segment tree structure.</a:t>
            </a:r>
            <a:endParaRPr lang="en-US" sz="3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1642"/>
            <a:ext cx="4890968" cy="635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38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Test Case - 1</a:t>
            </a:r>
            <a:endParaRPr lang="en-US" sz="3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727597"/>
            <a:ext cx="8505944" cy="575024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734747"/>
            <a:ext cx="13042821" cy="275998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732949"/>
            <a:ext cx="12390596" cy="676358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88" y="652105"/>
            <a:ext cx="12387024" cy="692538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7102"/>
            <a:ext cx="4238744" cy="551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3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Test Case - 2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472922"/>
            <a:ext cx="6729651" cy="612945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007" y="763072"/>
            <a:ext cx="11086386" cy="623601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215902"/>
            <a:ext cx="13042821" cy="250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46321"/>
            <a:ext cx="6521291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Test Case - 3</a:t>
            </a:r>
            <a:endParaRPr lang="en-US" sz="5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47674"/>
            <a:ext cx="13042821" cy="483548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5920"/>
            <a:ext cx="6195179" cy="80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48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Test Case - 4</a:t>
            </a:r>
            <a:endParaRPr lang="en-US" sz="4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932027"/>
            <a:ext cx="12111514" cy="50789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7253407"/>
            <a:ext cx="13042821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6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69683"/>
            <a:ext cx="6521291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Test Case - 5</a:t>
            </a:r>
            <a:endParaRPr lang="en-US" sz="5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71036"/>
            <a:ext cx="11301174" cy="438888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79646"/>
            <a:ext cx="6521291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Test Case - 6</a:t>
            </a:r>
            <a:endParaRPr lang="en-US" sz="5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422684"/>
            <a:ext cx="6244709" cy="454544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9521" y="2422684"/>
            <a:ext cx="584489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708428"/>
            <a:ext cx="6244709" cy="4812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9521" y="1721406"/>
            <a:ext cx="6244709" cy="478678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010126"/>
            <a:ext cx="7574042" cy="62093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1491</Words>
  <Application>Microsoft Office PowerPoint</Application>
  <PresentationFormat>Custom</PresentationFormat>
  <Paragraphs>220</Paragraphs>
  <Slides>29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Calibri</vt:lpstr>
      <vt:lpstr>Marcellus</vt:lpstr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Sujith</dc:creator>
  <cp:lastModifiedBy>Microsoft account</cp:lastModifiedBy>
  <cp:revision>5</cp:revision>
  <dcterms:created xsi:type="dcterms:W3CDTF">2025-10-10T07:17:51Z</dcterms:created>
  <dcterms:modified xsi:type="dcterms:W3CDTF">2025-10-10T08:34:01Z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2861183</vt:lpwstr>
  </property>
  <property fmtid="{D5CDD505-2E9C-101B-9397-08002B2CF9AE}" name="NXPowerLiteSettings" pid="3">
    <vt:lpwstr>F7000400038000</vt:lpwstr>
  </property>
  <property fmtid="{D5CDD505-2E9C-101B-9397-08002B2CF9AE}" name="NXPowerLiteVersion" pid="4">
    <vt:lpwstr>S10.9.4</vt:lpwstr>
  </property>
</Properties>
</file>